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9" r:id="rId5"/>
    <p:sldId id="258" r:id="rId6"/>
    <p:sldId id="260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713" autoAdjust="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1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E3A15-0701-4D44-AAF5-C12396FEA6CE}" type="datetimeFigureOut">
              <a:rPr lang="pl-PL" smtClean="0"/>
              <a:pPr/>
              <a:t>18.04.2023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1227C-0ACB-42C3-8B41-2B727503156D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tudent\Downloads\istockphoto-1401158734-17066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74095" cy="6858000"/>
          </a:xfrm>
          <a:prstGeom prst="rect">
            <a:avLst/>
          </a:prstGeom>
          <a:noFill/>
        </p:spPr>
      </p:pic>
      <p:pic>
        <p:nvPicPr>
          <p:cNvPr id="2" name="Picture 8" descr="C# 10 | Pluralsight">
            <a:hlinkClick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3" cstate="print"/>
          <a:srcRect l="20173" t="16742" r="21763" b="17129"/>
          <a:stretch>
            <a:fillRect/>
          </a:stretch>
        </p:blipFill>
        <p:spPr bwMode="auto">
          <a:xfrm>
            <a:off x="1475656" y="3356992"/>
            <a:ext cx="2592288" cy="2952328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  <a:sp3d>
            <a:bevelT w="165100" prst="coolSlant"/>
          </a:sp3d>
        </p:spPr>
      </p:pic>
      <p:sp>
        <p:nvSpPr>
          <p:cNvPr id="4" name="Prostokąt 3"/>
          <p:cNvSpPr/>
          <p:nvPr/>
        </p:nvSpPr>
        <p:spPr>
          <a:xfrm>
            <a:off x="0" y="548680"/>
            <a:ext cx="9144000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4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iberation Mono" pitchFamily="49" charset="0"/>
                <a:cs typeface="Liberation Mono" pitchFamily="49" charset="0"/>
              </a:rPr>
              <a:t>Porównanie C# do innych języków – typy danych, wbudowane funkcje</a:t>
            </a:r>
            <a:endParaRPr lang="pl-PL" sz="4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Liberation Mono" pitchFamily="49" charset="0"/>
              <a:cs typeface="Liberation Mono" pitchFamily="49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tudent\Downloads\istockphoto-1401158734-17066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095" y="0"/>
            <a:ext cx="9174095" cy="6858000"/>
          </a:xfrm>
          <a:prstGeom prst="rect">
            <a:avLst/>
          </a:prstGeom>
          <a:noFill/>
        </p:spPr>
      </p:pic>
      <p:sp>
        <p:nvSpPr>
          <p:cNvPr id="2" name="pole tekstowe 1"/>
          <p:cNvSpPr txBox="1"/>
          <p:nvPr/>
        </p:nvSpPr>
        <p:spPr>
          <a:xfrm>
            <a:off x="149417" y="188640"/>
            <a:ext cx="4104456" cy="5909310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pl-PL" sz="2700" dirty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C# ma swoją unikalną </a:t>
            </a:r>
            <a:r>
              <a:rPr lang="pl-PL" sz="270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składnię, </a:t>
            </a:r>
            <a:r>
              <a:rPr lang="pl-PL" sz="2700" dirty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która jest w pewnym stopniu podobna do C++ i </a:t>
            </a:r>
            <a:r>
              <a:rPr lang="pl-PL" sz="270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Javy. </a:t>
            </a:r>
            <a:r>
              <a:rPr lang="pl-PL" sz="2700" dirty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C# oferuje pewne funkcje, takie jak automatyczne zarządzanie pamięcią i uproszczoną obsługę wyjątków, które nie są dostępne w C++ i </a:t>
            </a:r>
            <a:r>
              <a:rPr lang="pl-PL" sz="2700" dirty="0" err="1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Pythonie</a:t>
            </a:r>
            <a:r>
              <a:rPr lang="pl-PL" sz="2700" dirty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.</a:t>
            </a: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3" cstate="print"/>
          <a:srcRect r="31596"/>
          <a:stretch>
            <a:fillRect/>
          </a:stretch>
        </p:blipFill>
        <p:spPr bwMode="auto">
          <a:xfrm>
            <a:off x="4397889" y="5157192"/>
            <a:ext cx="4392488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4" cstate="print"/>
          <a:srcRect r="31495" b="17827"/>
          <a:stretch>
            <a:fillRect/>
          </a:stretch>
        </p:blipFill>
        <p:spPr bwMode="auto">
          <a:xfrm>
            <a:off x="4397889" y="4437112"/>
            <a:ext cx="4392488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5" cstate="print"/>
          <a:srcRect r="31596"/>
          <a:stretch>
            <a:fillRect/>
          </a:stretch>
        </p:blipFill>
        <p:spPr bwMode="auto">
          <a:xfrm>
            <a:off x="4397889" y="2780928"/>
            <a:ext cx="4392488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 r="31085" b="2975"/>
          <a:stretch>
            <a:fillRect/>
          </a:stretch>
        </p:blipFill>
        <p:spPr bwMode="auto">
          <a:xfrm>
            <a:off x="4397889" y="548680"/>
            <a:ext cx="439248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pole tekstowe 13"/>
          <p:cNvSpPr txBox="1"/>
          <p:nvPr/>
        </p:nvSpPr>
        <p:spPr>
          <a:xfrm>
            <a:off x="4397889" y="11663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solidFill>
                  <a:schemeClr val="bg1"/>
                </a:solidFill>
              </a:rPr>
              <a:t>C#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15" name="pole tekstowe 14"/>
          <p:cNvSpPr txBox="1"/>
          <p:nvPr/>
        </p:nvSpPr>
        <p:spPr>
          <a:xfrm>
            <a:off x="4325881" y="234888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solidFill>
                  <a:schemeClr val="bg1"/>
                </a:solidFill>
              </a:rPr>
              <a:t>Java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16" name="pole tekstowe 15"/>
          <p:cNvSpPr txBox="1"/>
          <p:nvPr/>
        </p:nvSpPr>
        <p:spPr>
          <a:xfrm>
            <a:off x="4325881" y="393305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 smtClean="0">
                <a:solidFill>
                  <a:schemeClr val="bg1"/>
                </a:solidFill>
              </a:rPr>
              <a:t>Python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17" name="pole tekstowe 16"/>
          <p:cNvSpPr txBox="1"/>
          <p:nvPr/>
        </p:nvSpPr>
        <p:spPr>
          <a:xfrm>
            <a:off x="4325881" y="479715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solidFill>
                  <a:schemeClr val="bg1"/>
                </a:solidFill>
              </a:rPr>
              <a:t>C++</a:t>
            </a:r>
            <a:endParaRPr lang="pl-PL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student\Downloads\istockphoto-1401158734-17066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74095" cy="6858000"/>
          </a:xfrm>
          <a:prstGeom prst="rect">
            <a:avLst/>
          </a:prstGeom>
          <a:noFill/>
        </p:spPr>
      </p:pic>
      <p:sp>
        <p:nvSpPr>
          <p:cNvPr id="3" name="pole tekstowe 2"/>
          <p:cNvSpPr txBox="1"/>
          <p:nvPr/>
        </p:nvSpPr>
        <p:spPr>
          <a:xfrm>
            <a:off x="179512" y="260648"/>
            <a:ext cx="4320480" cy="635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5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C# tak jak i C++ są językami niskopoziomowymi co oznacza, że programiści mają większą kontrolę nad sprzętem i pamięcią w systemie,  oba te języki są też silnie typowane </a:t>
            </a:r>
            <a:r>
              <a:rPr lang="pl-PL" sz="1850" dirty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co oznacza, że ​​typy zmiennych muszą być zadeklarowane przed ich użyciem</a:t>
            </a:r>
            <a:r>
              <a:rPr lang="pl-PL" sz="185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. Są to też języki kompilowane czyli </a:t>
            </a:r>
            <a:r>
              <a:rPr lang="pl-PL" sz="1850" dirty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kod źródłowy jest kompilowany na kod maszynowy przed uruchomieniem </a:t>
            </a:r>
            <a:r>
              <a:rPr lang="pl-PL" sz="185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programu. Za to </a:t>
            </a:r>
            <a:r>
              <a:rPr lang="pl-PL" sz="1850" dirty="0" err="1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python</a:t>
            </a:r>
            <a:r>
              <a:rPr lang="pl-PL" sz="185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 to język interpretowany co oznacza, że program jest przetwarzany linia po linii podczas działania </a:t>
            </a:r>
            <a:r>
              <a:rPr lang="pl-PL" sz="185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kodu (przez co jest wolniejszy), </a:t>
            </a:r>
            <a:r>
              <a:rPr lang="pl-PL" sz="185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jest to też język </a:t>
            </a:r>
            <a:r>
              <a:rPr lang="pl-PL" sz="1850" dirty="0" err="1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wysokopoziomowy</a:t>
            </a:r>
            <a:r>
              <a:rPr lang="pl-PL" sz="1850" dirty="0" smtClean="0">
                <a:solidFill>
                  <a:schemeClr val="bg1"/>
                </a:solidFill>
                <a:latin typeface="Liberation Mono" pitchFamily="49" charset="0"/>
                <a:cs typeface="Liberation Mono" pitchFamily="49" charset="0"/>
              </a:rPr>
              <a:t> i słabo typowany – w przeciwieństwie to C# i C++.</a:t>
            </a:r>
            <a:endParaRPr lang="pl-PL" sz="1850" dirty="0">
              <a:solidFill>
                <a:schemeClr val="bg1"/>
              </a:solidFill>
              <a:latin typeface="Liberation Mono" pitchFamily="49" charset="0"/>
              <a:cs typeface="Liberation Mono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r="56004"/>
          <a:stretch>
            <a:fillRect/>
          </a:stretch>
        </p:blipFill>
        <p:spPr bwMode="auto">
          <a:xfrm>
            <a:off x="5148064" y="1124744"/>
            <a:ext cx="36004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Prostokąt 4"/>
          <p:cNvSpPr/>
          <p:nvPr/>
        </p:nvSpPr>
        <p:spPr>
          <a:xfrm>
            <a:off x="5076056" y="620688"/>
            <a:ext cx="1074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2400" dirty="0" err="1" smtClean="0">
                <a:solidFill>
                  <a:schemeClr val="bg1"/>
                </a:solidFill>
              </a:rPr>
              <a:t>Python</a:t>
            </a:r>
            <a:endParaRPr lang="pl-PL" sz="2400" dirty="0">
              <a:solidFill>
                <a:schemeClr val="bg1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 r="56511" b="5501"/>
          <a:stretch>
            <a:fillRect/>
          </a:stretch>
        </p:blipFill>
        <p:spPr bwMode="auto">
          <a:xfrm>
            <a:off x="5148064" y="5085184"/>
            <a:ext cx="360040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 t="21000" r="55953" b="-4998"/>
          <a:stretch>
            <a:fillRect/>
          </a:stretch>
        </p:blipFill>
        <p:spPr bwMode="auto">
          <a:xfrm>
            <a:off x="5148064" y="4869160"/>
            <a:ext cx="360040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Prostokąt 8"/>
          <p:cNvSpPr/>
          <p:nvPr/>
        </p:nvSpPr>
        <p:spPr>
          <a:xfrm>
            <a:off x="5076056" y="4437112"/>
            <a:ext cx="1094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2400" dirty="0" smtClean="0">
                <a:solidFill>
                  <a:schemeClr val="bg1"/>
                </a:solidFill>
              </a:rPr>
              <a:t>C++/</a:t>
            </a:r>
            <a:r>
              <a:rPr lang="pl-PL" sz="2400" dirty="0" err="1" smtClean="0">
                <a:solidFill>
                  <a:schemeClr val="bg1"/>
                </a:solidFill>
              </a:rPr>
              <a:t>C</a:t>
            </a:r>
            <a:r>
              <a:rPr lang="pl-PL" sz="2400" dirty="0" smtClean="0">
                <a:solidFill>
                  <a:schemeClr val="bg1"/>
                </a:solidFill>
              </a:rPr>
              <a:t>#</a:t>
            </a:r>
            <a:endParaRPr lang="pl-PL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student\Downloads\istockphoto-1401158734-17066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99392"/>
            <a:ext cx="9174095" cy="6957392"/>
          </a:xfrm>
          <a:prstGeom prst="rect">
            <a:avLst/>
          </a:prstGeom>
          <a:noFill/>
        </p:spPr>
      </p:pic>
      <p:sp>
        <p:nvSpPr>
          <p:cNvPr id="4" name="Prostokąt 3"/>
          <p:cNvSpPr/>
          <p:nvPr/>
        </p:nvSpPr>
        <p:spPr>
          <a:xfrm>
            <a:off x="323527" y="116632"/>
            <a:ext cx="849694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540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Porównanie wbudowanych funkcji</a:t>
            </a:r>
            <a:endParaRPr lang="pl-PL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5363" name="Picture 3"/>
          <p:cNvPicPr>
            <a:picLocks noChangeArrowheads="1"/>
          </p:cNvPicPr>
          <p:nvPr/>
        </p:nvPicPr>
        <p:blipFill>
          <a:blip r:embed="rId3" cstate="print"/>
          <a:srcRect t="3484" b="4801"/>
          <a:stretch>
            <a:fillRect/>
          </a:stretch>
        </p:blipFill>
        <p:spPr bwMode="auto">
          <a:xfrm>
            <a:off x="1979712" y="3068960"/>
            <a:ext cx="504056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Prostokąt 8"/>
          <p:cNvSpPr/>
          <p:nvPr/>
        </p:nvSpPr>
        <p:spPr>
          <a:xfrm>
            <a:off x="683568" y="2060848"/>
            <a:ext cx="9723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4000" dirty="0" smtClean="0">
                <a:solidFill>
                  <a:schemeClr val="bg1"/>
                </a:solidFill>
              </a:rPr>
              <a:t>C++</a:t>
            </a:r>
            <a:endParaRPr lang="pl-PL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student\Downloads\istockphoto-1401158734-17066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99392"/>
            <a:ext cx="9174095" cy="6957392"/>
          </a:xfrm>
          <a:prstGeom prst="rect">
            <a:avLst/>
          </a:prstGeom>
          <a:noFill/>
        </p:spPr>
      </p:pic>
      <p:sp>
        <p:nvSpPr>
          <p:cNvPr id="4" name="Prostokąt 3"/>
          <p:cNvSpPr/>
          <p:nvPr/>
        </p:nvSpPr>
        <p:spPr>
          <a:xfrm>
            <a:off x="323527" y="116632"/>
            <a:ext cx="849694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540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Porównanie wbudowanych funkcji</a:t>
            </a:r>
            <a:endParaRPr lang="pl-PL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5364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3068960"/>
            <a:ext cx="6120680" cy="277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Prostokąt 10"/>
          <p:cNvSpPr/>
          <p:nvPr/>
        </p:nvSpPr>
        <p:spPr>
          <a:xfrm>
            <a:off x="467544" y="1916832"/>
            <a:ext cx="7136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4000" dirty="0" smtClean="0">
                <a:solidFill>
                  <a:schemeClr val="bg1"/>
                </a:solidFill>
              </a:rPr>
              <a:t>C#</a:t>
            </a:r>
            <a:endParaRPr lang="pl-PL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student\Downloads\istockphoto-1401158734-17066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99392"/>
            <a:ext cx="9174095" cy="6957392"/>
          </a:xfrm>
          <a:prstGeom prst="rect">
            <a:avLst/>
          </a:prstGeom>
          <a:noFill/>
        </p:spPr>
      </p:pic>
      <p:sp>
        <p:nvSpPr>
          <p:cNvPr id="4" name="Prostokąt 3"/>
          <p:cNvSpPr/>
          <p:nvPr/>
        </p:nvSpPr>
        <p:spPr>
          <a:xfrm>
            <a:off x="323527" y="116632"/>
            <a:ext cx="849694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540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Porównanie wbudowanych funkcji</a:t>
            </a:r>
            <a:endParaRPr lang="pl-PL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5362" name="Picture 2"/>
          <p:cNvPicPr>
            <a:picLocks noChangeArrowheads="1"/>
          </p:cNvPicPr>
          <p:nvPr/>
        </p:nvPicPr>
        <p:blipFill>
          <a:blip r:embed="rId3" cstate="print"/>
          <a:srcRect b="6845"/>
          <a:stretch>
            <a:fillRect/>
          </a:stretch>
        </p:blipFill>
        <p:spPr bwMode="auto">
          <a:xfrm>
            <a:off x="1979712" y="3068960"/>
            <a:ext cx="5544616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Prostokąt 9"/>
          <p:cNvSpPr/>
          <p:nvPr/>
        </p:nvSpPr>
        <p:spPr>
          <a:xfrm>
            <a:off x="467544" y="1916832"/>
            <a:ext cx="166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4000" dirty="0" err="1" smtClean="0">
                <a:solidFill>
                  <a:schemeClr val="bg1"/>
                </a:solidFill>
              </a:rPr>
              <a:t>Python</a:t>
            </a:r>
            <a:endParaRPr lang="pl-PL" sz="4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187</Words>
  <Application>Microsoft Office PowerPoint</Application>
  <PresentationFormat>Pokaz na ekranie (4:3)</PresentationFormat>
  <Paragraphs>15</Paragraphs>
  <Slides>6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Slajd 1</vt:lpstr>
      <vt:lpstr>Slajd 2</vt:lpstr>
      <vt:lpstr>Slajd 3</vt:lpstr>
      <vt:lpstr>Slajd 4</vt:lpstr>
      <vt:lpstr>Slajd 5</vt:lpstr>
      <vt:lpstr>Slajd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student</dc:creator>
  <cp:lastModifiedBy>student</cp:lastModifiedBy>
  <cp:revision>14</cp:revision>
  <dcterms:created xsi:type="dcterms:W3CDTF">2023-04-18T07:03:44Z</dcterms:created>
  <dcterms:modified xsi:type="dcterms:W3CDTF">2023-04-18T08:34:22Z</dcterms:modified>
</cp:coreProperties>
</file>